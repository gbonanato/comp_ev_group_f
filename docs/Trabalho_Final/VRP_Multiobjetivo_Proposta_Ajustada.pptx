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062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svgs/cover_bg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162495" y="1097280"/>
            <a:ext cx="4572000" cy="411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962660"/>
            <a:ext cx="6400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1506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TRABALHO FINAL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06120" y="16764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Multiobjetivo de Roteamento de Veículos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30403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Equidade de carga entre veículos via algoritmos evolucionários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3870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i="1" kern="0" spc="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PÓS GRADUAÇÃO EM ENGENHARIA ELÉTRICA </a:t>
            </a:r>
            <a:r>
              <a:rPr lang="en-US" sz="1200" b="1" i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200" b="1" i="1" kern="0" spc="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UFMG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i="1" kern="0" spc="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r>
              <a:rPr lang="en-US" sz="1200" b="1" i="1" kern="0" spc="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i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Evolucionária</a:t>
            </a:r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4892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B. Lopes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5212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bonanato96@ufmg.br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06440" y="4892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Vanderley M. Silva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06440" y="5212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vanderleyms@ufmg.br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138160" y="4892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F. Cerqueira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38160" y="5212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vinicius@ufmg.br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1100" b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2026</a:t>
            </a:r>
            <a:endParaRPr lang="en-US" sz="1100" b="1" dirty="0"/>
          </a:p>
        </p:txBody>
      </p:sp>
      <p:sp>
        <p:nvSpPr>
          <p:cNvPr id="17" name="Text 9"/>
          <p:cNvSpPr/>
          <p:nvPr/>
        </p:nvSpPr>
        <p:spPr>
          <a:xfrm>
            <a:off x="3200400" y="4892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Stephanie F. Lemos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3200400" y="5212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stephanielemossfl@ufmg.br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balancear importa?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balanceado é problema técnico — e humano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73152" cy="3017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Equidade entre motoristas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justa de carga reduz percepção de injustiça e melhora retenção de pessoal — fator central em estudos de logística humana.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20440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463040"/>
            <a:ext cx="73152" cy="3017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fadiga e risco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longas concentradas em poucos veículos elevam fadiga, risco de acidente e custo com saúde ocupacional.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20440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463040"/>
            <a:ext cx="73152" cy="3017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321040" y="23774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trabalhista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jornada e descanso (Lei do Motorista, CLT) limita rotas extensas; balanceamento favorece a aderência regulatória.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relacionados em VRP balanceado têm crescido na última década: </a:t>
            </a:r>
            <a:r>
              <a:rPr lang="en-US" sz="1200" b="1" i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Matl, Hartl &amp; Vidal (2018)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mapeiam mais de 60 estudos sobre equidade em roteamento.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10048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clássico de roteamento de veículos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Dantzig &amp; Ramser, 1959 — uma das primeiras formulações de otimização logística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do problema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único de origem das mercadorias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com demanda a ser atendida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889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Arcos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 entre nós, com custo associado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461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limitado de veículos disponível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033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rotear todas as demandas com custo mínimo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486400" cy="77724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6177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o TSP: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VRP pode ser visto como múltiplas instâncias paralelas do Travelling Salesman Problem — uma para cada veículo. NP-difícil.</a:t>
            </a:r>
            <a:endParaRPr lang="en-US" sz="1200" dirty="0"/>
          </a:p>
        </p:txBody>
      </p:sp>
      <p:pic>
        <p:nvPicPr>
          <p:cNvPr id="17" name="Image 0" descr="/home/claude/work/svgs/vrp_clas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17320"/>
            <a:ext cx="5029200" cy="3657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83680" y="5212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1. Esquema do VRP: um depósito, múltiplos clientes, frota fixa, rotas que retornam à origem.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10048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matemática clássica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inteira binária — formulação didática adaptada de Toth &amp; Vigo (2014, cap. 1)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objetivo e restrições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minimizar  Σᵢ Σⱼ Σₖ  cᵢⱼ · xᵢⱼᵏ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76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de todas as rotas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Σₖ Σⱼ xᵢⱼᵏ = 1,   ∀ i ∈ V \ {0}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953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é visitado uma única vez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Σⱼ x₀ⱼᵏ = Σᵢ xᵢ₀ᵏ ≤ 1,   ∀ k ∈ 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730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 utilizado sai e retorna ao depósito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Σᵢ dᵢ · yᵢᵏ ≤ Q,   ∀ k ∈ 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507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do veículo respeitada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xᵢⱼᵏ ∈ {0,1};  restrições anti-subrotas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285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binariedade e eliminação de ciclos inviáveis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1417320"/>
            <a:ext cx="4297680" cy="4846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Notação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0" y="1965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nós (depósito ∪ clientes)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2104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veículos disponíveis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3063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cᵢⱼ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do arco entre i e j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3611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2104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do cliente 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0" y="4160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210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máxima do veículo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4709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xᵢⱼᵏ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 veículo k atravessa (i, j)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0" y="5257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yᵢᵏ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21040" y="5257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 cliente i é atendido por 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metodológica: para solução exata, a formulação completa deve explicitar conservação de fluxo e eliminação de subrotas; aqui o modelo orienta a codificação evolutiva.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41" name="Text 20"/>
          <p:cNvSpPr/>
          <p:nvPr/>
        </p:nvSpPr>
        <p:spPr>
          <a:xfrm>
            <a:off x="5410048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do VRP e estado da arte em equidade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geral à esquerda; foco em workload equity à direita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do VRP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97280" cy="365760"/>
          </a:xfrm>
          <a:prstGeom prst="rect">
            <a:avLst/>
          </a:prstGeom>
          <a:solidFill>
            <a:srgbClr val="0E4B5A"/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limitada dos veículos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097280" cy="365760"/>
          </a:xfrm>
          <a:prstGeom prst="rect">
            <a:avLst/>
          </a:prstGeom>
          <a:solidFill>
            <a:srgbClr val="0E4B5A"/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VRPTW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2423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temporais de entrega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097280" cy="365760"/>
          </a:xfrm>
          <a:prstGeom prst="rect">
            <a:avLst/>
          </a:prstGeom>
          <a:solidFill>
            <a:srgbClr val="0E4B5A"/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 estocásticas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097280" cy="365760"/>
          </a:xfrm>
          <a:prstGeom prst="rect">
            <a:avLst/>
          </a:prstGeom>
          <a:solidFill>
            <a:srgbClr val="0E4B5A"/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MDVRP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3429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depósitos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1097280" cy="365760"/>
          </a:xfrm>
          <a:prstGeom prst="rect">
            <a:avLst/>
          </a:prstGeom>
          <a:solidFill>
            <a:srgbClr val="0E4B5A"/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PDVRP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entrega de itens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097280" cy="365760"/>
          </a:xfrm>
          <a:prstGeom prst="rect">
            <a:avLst/>
          </a:prstGeom>
          <a:solidFill>
            <a:srgbClr val="0E4B5A"/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34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DVRP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 e custos dinâmicos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1463040"/>
            <a:ext cx="0" cy="457200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67512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da arte em VRP balanceado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75120" y="2011680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Jozefowiez, Semet &amp; Talbi (2008)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2240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seminal sobre VRP multiobjetivo — EJOR 189(2):293–309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2971800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2880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Matl, Hartl &amp; Vidal (2018)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específica de equidade em VRP, classifica métricas em 4 famílias — Transportation Science 52(2):239–260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3931920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840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Lacomme, Prins, Sevaux (2015)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4160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multiobjetivo aplicado a VRPTW balanceado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4892040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4800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Jozefowiez, Semet &amp; Talbi (2009)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944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VRP via dois objetivos — Computers &amp; OR 36(8):2456–2472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5852160"/>
            <a:ext cx="5029200" cy="41148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5852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Oportunidade: comparação controlada de NSGA-II, SPEA2 e NSGA-III sob o mesmo protocolo experimental para CVRP balanceado.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43" name="Text 20"/>
          <p:cNvSpPr/>
          <p:nvPr/>
        </p:nvSpPr>
        <p:spPr>
          <a:xfrm>
            <a:off x="5410048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 identificada e proposta do trabalho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Equidade entre rotas + comparação de três algoritmos de ponta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69280" cy="411480"/>
          </a:xfrm>
          <a:prstGeom prst="rect">
            <a:avLst/>
          </a:prstGeom>
          <a:solidFill>
            <a:srgbClr val="0E4B5A"/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o CVRP balanceado como problema multiobjetivo: minimizar custo total, reduzir desbalanceamento entre veículos e limitar a rota mais crítica.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esperadas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tri-objetivo do VRP balanceado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251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experimental controlada: NSGA-II × SPEA2 × NSGA-III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846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 tradeoff equidade × eficiência</a:t>
            </a:r>
            <a:endParaRPr lang="en-US" sz="1300" dirty="0"/>
          </a:p>
        </p:txBody>
      </p:sp>
      <p:pic>
        <p:nvPicPr>
          <p:cNvPr id="17" name="Image 0" descr="/home/claude/work/svgs/routes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554480"/>
            <a:ext cx="5029200" cy="23774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83680" y="4023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2. Mesmo conjunto de clientes: à esquerda, apenas mínimo custo total (um veículo sobrecarregado); à direita, custo balanceado entre três veículos.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583680" y="4846320"/>
            <a:ext cx="502920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49377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 entre objetivos: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balancear o custo entre veículos geralmente aumenta o custo total. Não existe uma única solução ótima — existe um conjunto de soluções de compromisso (frente de Pareto).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410048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multiobjetivo proposta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funções objetivo simultâneas, com restrições completas do CVRP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91440" cy="1234440"/>
          </a:xfrm>
          <a:prstGeom prst="rect">
            <a:avLst/>
          </a:prstGeom>
          <a:solidFill>
            <a:srgbClr val="0E4B5A"/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057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4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F₁ = Σₖ cᵏ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dos custos de todas as rotas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2011680"/>
            <a:ext cx="640080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926080"/>
            <a:ext cx="6858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26080"/>
            <a:ext cx="91440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F₂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4592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474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4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F₂ = σ²(c¹, c², ..., cᴷ)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 dos custos das rotas — quanto menor, mais balanceado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29400" y="3429000"/>
            <a:ext cx="640080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343400"/>
            <a:ext cx="6858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343400"/>
            <a:ext cx="91440" cy="123444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480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F₃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645920" y="4480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4892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4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F₃ = max{cᵏ}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4592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da rota mais longa — limita o pior caso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4709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29400" y="4846320"/>
            <a:ext cx="640080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5A30D"/>
            </a:solidFill>
            <a:prstDash val="solid"/>
          </a:ln>
        </p:spPr>
      </p:sp>
      <p:pic>
        <p:nvPicPr>
          <p:cNvPr id="28" name="Image 0" descr="/home/claude/work/svgs/pareto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508760"/>
            <a:ext cx="4114800" cy="31089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680960" y="4617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3. Espaço de objetivos 3D — cada ponto é uma solução não-dominada.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680960" y="5120640"/>
            <a:ext cx="411480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0" y="5212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Restrições:
 atendimento único, capacidade, saída/retorno ao depósito, conservação de fluxo, eliminação de subrotas e binariedade.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36" name="Text 20"/>
          <p:cNvSpPr/>
          <p:nvPr/>
        </p:nvSpPr>
        <p:spPr>
          <a:xfrm>
            <a:off x="5410048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secundária: como medir equidade?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duas formalizações de F₂ — fundamentação em Matl, Hartl &amp; Vidal (2018)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definição única de equidade. Variância penaliza dispersão global; max−min foca o pior contraste. A escolha altera a frente e a interpretação gerencial.</a:t>
            </a:r>
            <a:endParaRPr lang="en-US" sz="1300" dirty="0"/>
          </a:p>
        </p:txBody>
      </p:sp>
      <p:pic>
        <p:nvPicPr>
          <p:cNvPr id="5" name="Image 0" descr="/home/claude/work/svgs/metric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03120"/>
            <a:ext cx="941832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86400"/>
            <a:ext cx="530352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1B7C8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532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 — equilíbrio global entre rotas; útil para reduzir dispersão, mas exige interpretação crítica em funções de equidade.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5080" y="5486400"/>
            <a:ext cx="530352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1B7C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5532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− Min — foco na diferença extrema; útil quando limites individuais de jornada ou risco operacional são decisivos.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14" name="Text 20"/>
          <p:cNvSpPr/>
          <p:nvPr/>
        </p:nvSpPr>
        <p:spPr>
          <a:xfrm>
            <a:off x="5410048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comparados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marcos da otimização multiobjetivo baseada em Pareto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657600" cy="868680"/>
          </a:xfrm>
          <a:prstGeom prst="rect">
            <a:avLst/>
          </a:prstGeom>
          <a:solidFill>
            <a:srgbClr val="0E4B5A"/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 et al. (2002)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Non-dominated sorting + crowding distance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de aglomeração no espaço de objetivos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434840"/>
            <a:ext cx="3200400" cy="640080"/>
          </a:xfrm>
          <a:prstGeom prst="rect">
            <a:avLst/>
          </a:prstGeom>
          <a:solidFill>
            <a:srgbClr val="ECFCCB"/>
          </a:solidFill>
          <a:ln w="6350">
            <a:solidFill>
              <a:srgbClr val="65A30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da literatura para 2-3 objetivos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5166360"/>
            <a:ext cx="3200400" cy="64008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166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degrada para &gt; 3 objetivos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70832" y="14173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1417320"/>
            <a:ext cx="3657600" cy="868680"/>
          </a:xfrm>
          <a:prstGeom prst="rect">
            <a:avLst/>
          </a:prstGeom>
          <a:solidFill>
            <a:srgbClr val="1B7C8F"/>
          </a:solidFill>
          <a:ln w="12700">
            <a:solidFill>
              <a:srgbClr val="1B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0832" y="1508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370832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Zitzler et al. (2001)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99432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99432" y="2743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+ raw fitness + densidade k-NN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99432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99432" y="3703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externo de tamanho fixo (truncamento)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99432" y="4434840"/>
            <a:ext cx="3200400" cy="640080"/>
          </a:xfrm>
          <a:prstGeom prst="rect">
            <a:avLst/>
          </a:prstGeom>
          <a:solidFill>
            <a:srgbClr val="ECFCCB"/>
          </a:solidFill>
          <a:ln w="6350">
            <a:solidFill>
              <a:srgbClr val="65A30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sólida e arquivo elitista explícito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99432" y="5166360"/>
            <a:ext cx="3200400" cy="64008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5166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computacional mais alto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93024" y="14173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93024" y="1417320"/>
            <a:ext cx="365760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3024" y="1508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NSGA-III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193024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 &amp; Jain (2014)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21624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21624" y="2743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Non-dominated sorting + pontos de referência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21624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21624" y="3703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a pontos de referência (Das &amp; Dennis)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21624" y="4434840"/>
            <a:ext cx="3200400" cy="640080"/>
          </a:xfrm>
          <a:prstGeom prst="rect">
            <a:avLst/>
          </a:prstGeom>
          <a:solidFill>
            <a:srgbClr val="ECFCCB"/>
          </a:solidFill>
          <a:ln w="6350">
            <a:solidFill>
              <a:srgbClr val="65A30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13064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Desenhado para muitos objetivos (3+)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21624" y="5166360"/>
            <a:ext cx="3200400" cy="64008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13064" y="5166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referência precisam ser bem distribuídos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217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de teste: verificar empiricamente se pontos de referência do NSGA-III melhoram diversidade e qualidade da frente em três objetivos.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45" name="Text 20"/>
          <p:cNvSpPr/>
          <p:nvPr/>
        </p:nvSpPr>
        <p:spPr>
          <a:xfrm>
            <a:off x="5410048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e operadores genéticos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Permutação com separadores ou decodificação por capacidade — solução compacta, mas sujeita a reparo</a:t>
            </a:r>
            <a:endParaRPr lang="en-US" sz="1400" dirty="0"/>
          </a:p>
        </p:txBody>
      </p:sp>
      <p:pic>
        <p:nvPicPr>
          <p:cNvPr id="4" name="Image 0" descr="/home/claude/work/svgs/chromos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17320"/>
            <a:ext cx="941832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92040"/>
            <a:ext cx="365760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4892040"/>
            <a:ext cx="73152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983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BCRC — Ombuki et al. (2006)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5577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Cost Route Crossover: copia uma rota inteira do pai 1 e remove clientes duplicados do pai 2; reinsere por menor custo.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4892040"/>
            <a:ext cx="365760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4892040"/>
            <a:ext cx="73152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4983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Mutação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1772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· Inversion · Inter-route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17720" y="5577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operadores aplicados com probabilidade individual: troca de clientes, inversão de subrota, deslocamento entre veículos.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0" y="4892040"/>
            <a:ext cx="365760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4892040"/>
            <a:ext cx="73152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58200" y="4983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45820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lazy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458200" y="5577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que violam capacidade são reparadas antes da avaliação; o reparo deve ser documentado para preservar comparabilidade.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410048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experimental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Reprodutibilidade, comparabilidade e rastreabilidade — Python + pymoo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CVRPLIB — Uchoa et al. (2017), EJOR 257(3):845–858; DOI: 10.1016/j.ejor.2016.08.012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48640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Instâncias representativas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clientes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A-n32-k5, A-n45-k7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32–45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B-n50-k7, B-n78-k10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X-n101-k25, X-n200-k36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101–200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160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Adaptação: agregar F₂ (variância) e F₃ (makespan) sobre as instâncias originais — mesma topologia, função objetivo estendida.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dos algoritmos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3035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1828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69680" y="18288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indivíduos</a:t>
            </a:r>
            <a:endParaRPr lang="en-US" sz="1100" dirty="0"/>
          </a:p>
        </p:txBody>
      </p:sp>
      <p:sp>
        <p:nvSpPr>
          <p:cNvPr id="6" name="Shape 9"/>
          <p:cNvSpPr/>
          <p:nvPr/>
        </p:nvSpPr>
        <p:spPr>
          <a:xfrm>
            <a:off x="6400800" y="2267712"/>
            <a:ext cx="5303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22677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Gerações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869680" y="22677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(critério de parada)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2706624"/>
            <a:ext cx="53035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27066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crossover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869680" y="27066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0" y="3145536"/>
            <a:ext cx="5303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31455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mutação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869680" y="314553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1/n (n = nº clientes)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3584448"/>
            <a:ext cx="53035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3584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pais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869680" y="358444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torneio binário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0" y="4023360"/>
            <a:ext cx="5303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37960" y="4023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Execuções independentes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869680" y="4023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por algoritmo × instância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0" y="4462272"/>
            <a:ext cx="53035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7960" y="44622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869680" y="44622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por execução; hardware, SO e versões reportados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4937760"/>
            <a:ext cx="11094415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 ambiente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77240" y="544068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5440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88720" y="5440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— versão fixada e ambiente registrado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263640" y="544068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63640" y="5440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675120" y="5440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pymoo 0.6.x — NSGA-II/III, SPEA2, HV e IGD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77240" y="585216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7240" y="5852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88720" y="5852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manipulação de dados e séries de fitness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263640" y="585216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63640" y="5852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675120" y="5852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visualização de frentes, rotas e métricas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48" name="Text 20"/>
          <p:cNvSpPr/>
          <p:nvPr/>
        </p:nvSpPr>
        <p:spPr>
          <a:xfrm>
            <a:off x="5410048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avaliação e análise estatística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comparar três algoritmos estocásticos sem cair no "olhômetro"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qualidade da frente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77240" cy="502920"/>
          </a:xfrm>
          <a:prstGeom prst="rect">
            <a:avLst/>
          </a:prstGeom>
          <a:solidFill>
            <a:srgbClr val="0E4B5A"/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Hypervolume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dominada pela frente — quanto maior, melhor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777240" cy="502920"/>
          </a:xfrm>
          <a:prstGeom prst="rect">
            <a:avLst/>
          </a:prstGeom>
          <a:solidFill>
            <a:srgbClr val="0E4B5A"/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688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68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Generational Distance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até a frente de referência empírica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777240" cy="502920"/>
          </a:xfrm>
          <a:prstGeom prst="rect">
            <a:avLst/>
          </a:prstGeom>
          <a:solidFill>
            <a:srgbClr val="0E4B5A"/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089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108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/ diversidade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364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uniformidade da distribuição dos pontos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777240" cy="502920"/>
          </a:xfrm>
          <a:prstGeom prst="rect">
            <a:avLst/>
          </a:prstGeom>
          <a:solidFill>
            <a:srgbClr val="0E4B5A"/>
          </a:solidFill>
          <a:ln w="12700">
            <a:solidFill>
              <a:srgbClr val="0E4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49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|F|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749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4005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soluções não-dominadas obtidas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5486400" cy="169164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663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estatísticos não-paramétricos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0292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signed-rank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pareadas entre algoritmos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+ Holm post-hoc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simultânea dos três algoritmos</a:t>
            </a:r>
            <a:endParaRPr lang="en-US" sz="1100" dirty="0"/>
          </a:p>
        </p:txBody>
      </p:sp>
      <p:pic>
        <p:nvPicPr>
          <p:cNvPr id="24" name="Image 0" descr="/home/claude/work/svgs/hyper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17320"/>
            <a:ext cx="5029200" cy="3657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583680" y="5074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4. Hypervolume sobre uma frente de Pareto bi-objetivo.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583680" y="5532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IGD usa frente empírica: união das soluções de todos os algoritmos/execuções, filtrada por não dominância. Testes seguem Derrac et al. (2011).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5410048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4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e contribuições esperadas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orientado a entregas até o Moodle (30/06)</a:t>
            </a:r>
            <a:endParaRPr lang="en-US" sz="1400" dirty="0"/>
          </a:p>
        </p:txBody>
      </p:sp>
      <p:pic>
        <p:nvPicPr>
          <p:cNvPr id="5" name="Image 0" descr="/home/claude/work/svgs/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1106424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40218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do trabalho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846318"/>
            <a:ext cx="36576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98347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tri-objetivo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544067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+ equidade + makespan no mesmo modelo, com restrições completas do CVRP.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70832" y="4846318"/>
            <a:ext cx="36576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9432" y="498347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empírica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99432" y="544067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× SPEA2 × NSGA-III sobre CVRPLIB, com seeds, hardware, versões e critério de parada reportados.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93024" y="4846318"/>
            <a:ext cx="36576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21624" y="498347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equidade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421624" y="544067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 vs max−min: impacto da métrica na frente de Pareto e na decisão operacional.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19" name="Text 20"/>
          <p:cNvSpPr/>
          <p:nvPr/>
        </p:nvSpPr>
        <p:spPr>
          <a:xfrm>
            <a:off x="5410048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Citadas nesta apresentação; referências revisadas para relatório/artigo IEEE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32688" y="1417320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DANTZIG, G. B.; RAMSER, J. H. The truck dispatching problem. Management Science, 6(1):80–91, 1959. DOI: 10.1287/mnsc.6.1.80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2075688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" y="2075688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TOTH, P.; VIGO, D. Vehicle Routing: Problems, Methods, and Applications. 2. ed. Philadelphia: SIAM, 2014.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734056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734056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EIBEN, A. E.; SMITH, J. E. Introduction to Evolutionary Computing. 2. ed. Berlin: Springer, 2015.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392424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32688" y="3392424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DEB, K.; PRATAP, A.; AGARWAL, S.; MEYARIVAN, T. A fast and elitist multiobjective genetic algorithm: NSGA-II. IEEE TEC, 6(2):182–197, 2002. DOI: 10.1109/4235.996017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050792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32688" y="4050792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ZITZLER, E.; LAUMANNS, M.; THIELE, L. SPEA2: Improving the Strength Pareto Evolutionary Algorithm. TIK-Report 103, ETH Zürich, 2001.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32688" y="4709160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DEB, K.; JAIN, H. An evolutionary many-objective optimization algorithm using reference-point-based nondominated sorting approach, Part I. IEEE TEC, 18(4):577–601, 2014. DOI: 10.1109/TEVC.2013.2281535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5367528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32688" y="5367528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JOZEFOWIEZ, N.; SEMET, F.; TALBI, E.-G. Multi-objective vehicle routing problems. EJOR, 189(2):293–309, 2008. DOI: 10.1016/j.ejor.2007.05.055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0" y="141732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84848" y="1417320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MATL, P.; HARTL, R. F.; VIDAL, T. Workload Equity in Vehicle Routing Problems: A Survey and Analysis. Transportation Science, 52(2):239–260, 2018. DOI: 10.1287/trsc.2017.0744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0" y="2075688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84848" y="2075688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UCHOA, E.; PECIN, D.; PESSOA, A.; POGGI, M.; VIDAL, T.; SUBRAMANIAN, A. New benchmark instances for the CVRP. EJOR, 257(3):845–858, 2017. DOI: 10.1016/j.ejor.2016.08.012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2734056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84848" y="2734056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DERRAC, J.; GARCÍA, S.; MOLINA, D.; HERRERA, F. A practical tutorial on nonparametric statistical tests for comparing evolutionary and swarm intelligence algorithms. Swarm Evol. Comput., 1(1):3–18, 2011. DOI: 10.1016/j.swevo.2011.02.002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3392424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84848" y="3392424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OMBUKI, B.; ROSS, B. J.; HANSHAR, F. Multi-objective genetic algorithms for the VRPTW. Applied Intelligence, 24(1):17–30, 2006. DOI: 10.1007/s10489-006-6926-z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4050792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84848" y="4050792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LAPORTE, G.; TOTH, P.; VIGO, D. Vehicle routing: historical perspective and recent contributions. EURO Journal on Transportation and Logistics, v. 2, n. 1-2, p. 1–4, 2013.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0" y="470916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84848" y="4709160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OUERTANI, N.; BEN-ROMDHANE, H.; KRICHEN, S. The dynamic vehicle routing problem: a comprehensive survey. In: ALHARBI, I. et al. (eds.). Advances in Computational Logistics and Supply Chain Analytics. Cham: Springer, 2024.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5367528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84848" y="5367528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JOZEFOWIEZ, N.; SEMET, F.; TALBI, E.-G. An evolutionary algorithm for the vehicle routing problem with route balancing. European Journal of Operational Research, v. 195, n. 3, p. 761–769, 2009.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00584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completos no pymoo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estendida — reprodutibilidade, comparabilidade e parâmetros controlados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6576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NSGA-II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NSGA-III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 população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 (+ arquivo 100)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92 (Das-Dennis p=12)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Gerações máximas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torneio binário (crowding)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torneio binário (fitness)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torneio binário (ref-points)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Crossover (prob.)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BCRC (0,9)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BCRC (0,9)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BCRC (0,9)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Mutação (prob.)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swap/inv (1/n)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swap/inv (1/n)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swap/inv (1/n)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Elitismo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implícito (NS sort)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 externo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implícito (NS + ref)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parada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gerações máx.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gerações máx.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gerações máx.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pontos de referência do NSGA-III via Das-Dennis (p = 12) geram 92 pontos em 3 objetivos; quando comparado com população 100, registrar o critério de pareamento.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00584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do NSGA-III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 &amp; Jain (2014, Algorithm 1) — diferença essencial em relação ao NSGA-II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685800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74520"/>
            <a:ext cx="6492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população P_t (tamanho N), pontos de referência Z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Q_t ← gerar offspring de P_t via seleção, crossover, mutação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R_t ← P_t ∪ Q_t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 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(F_1, F_2, ...) ← non-dominated-sort(R_t)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 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 ← ∅, i ← 1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 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enquanto |S_t| + |F_i| ≤ N: S_t ← S_t ∪ F_i; i ← i+1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 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|S_t| = N: P_{t+1} ← S_t; ir para 11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 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normalizar objetivos de S_t ∪ F_i usando pontos extremos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 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associar cada solução ao ponto de referência mais próximo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 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selecionar (N − |S_t|) soluções de F_i via niching dos refs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 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P_{t+1} ← S_t ∪ soluções selecionadas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 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retornar P_{t+1}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80960" y="1737360"/>
            <a:ext cx="3931920" cy="457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vs. NSGA-II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286000"/>
            <a:ext cx="320040" cy="3200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Crowding → Reference points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63347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no espaço normalizado guiada por pontos de referência distribuídos uniformemente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3611880"/>
            <a:ext cx="320040" cy="3200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adaptativa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395935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normalizados por geração com pontos extremos da população atual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63840" y="4937760"/>
            <a:ext cx="320040" cy="3200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4937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Niching por associação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52852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competem dentro de cada "nicho" definido por um ponto de referência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00584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das instâncias CVRPLIB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Augerat (1995) e Uchoa et al. (2017) — BKS usado apenas como referência mono-objetivo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2560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Instância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Veículos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 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BKS¹ (custo)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A-n32-k5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7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Augerat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A-n45-k7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7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Augerat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B-n50-k7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7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Augerat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B-n78-k10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7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Augerat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X-n101-k25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7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Uchoa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X-n200-k36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7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58578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Uchoa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029200"/>
            <a:ext cx="11094415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 para o problema multiobjetivo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548640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Topologia, demandas e capacidade originais são mantidas.
▸ F₂ (variância) e F₃ (makespan) são computadas sobre os custos das rotas.
▸ BKS¹ = referência de eficiência mono-objetivo; não é ótimo do problema triobjetivo.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00584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Hypervolume — exemplo numérico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HV é obtido para uma frente bi-objetivo de 5 pontos</a:t>
            </a:r>
            <a:endParaRPr lang="en-US" sz="1300" dirty="0"/>
          </a:p>
        </p:txBody>
      </p:sp>
      <p:pic>
        <p:nvPicPr>
          <p:cNvPr id="10" name="Image 0" descr="/home/claude/work/svgs/hyper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486400" cy="3657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224028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0372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ponto de referência 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03720" y="2606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ponto de referência comum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3180" y="310896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sz="300" dirty="0"/>
          </a:p>
        </p:txBody>
      </p:sp>
      <p:sp>
        <p:nvSpPr>
          <p:cNvPr id="17" name="Text 14"/>
          <p:cNvSpPr/>
          <p:nvPr/>
        </p:nvSpPr>
        <p:spPr>
          <a:xfrm>
            <a:off x="64008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903720" y="3108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pontos por F₁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903720" y="3474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 &lt; p₂ &lt; ... &lt; pₙ ao longo do primeiro eixo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0" y="397764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03720" y="3977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áreas retangulares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03720" y="4343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Aᵢ = (rₓ − pᵢ.x) · (pᵢ₋₁.y − pᵢ.y)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00800" y="484632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0372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e normalizar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903720" y="5212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 = Σ Aᵢ — em 3 objetivos, calcula-se volume; normalizar ajuda a comparar instâncias.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8640" y="5577840"/>
            <a:ext cx="1109441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566928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pymoo.indicators.hv import HV
ref = nadir_empirico * 1.10
ind = HV(ref_point=ref); hv = ind(F)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30" name="Text 20"/>
          <p:cNvSpPr/>
          <p:nvPr/>
        </p:nvSpPr>
        <p:spPr>
          <a:xfrm>
            <a:off x="5410048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2903</Words>
  <Application>Microsoft Office PowerPoint</Application>
  <PresentationFormat>Widescreen</PresentationFormat>
  <Paragraphs>466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VRP Multiobjetivo com Algoritmos Evolucionários</dc:title>
  <dc:subject>PptxGenJS Presentation</dc:subject>
  <dc:creator>Lopes, Silva, Lemos, Cerqueira</dc:creator>
  <cp:lastModifiedBy>Dell</cp:lastModifiedBy>
  <cp:revision>3</cp:revision>
  <dcterms:created xsi:type="dcterms:W3CDTF">2026-05-28T01:03:43Z</dcterms:created>
  <dcterms:modified xsi:type="dcterms:W3CDTF">2026-05-28T20:02:04Z</dcterms:modified>
</cp:coreProperties>
</file>