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01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com Equidade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resultados completos · NSGA-II × SPEA2 × NSGA-III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286000" cy="0"/>
          </a:xfrm>
          <a:prstGeom prst="line">
            <a:avLst/>
          </a:prstGeom>
          <a:noFill/>
          <a:ln w="25400">
            <a:solidFill>
              <a:srgbClr val="C998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didática: 20 clientes · 6 veículos · capacidade 35 · 30 execuções por algoritmo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6656" y="3145536"/>
            <a:ext cx="3520440" cy="27432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108960"/>
            <a:ext cx="35204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4864" cy="2743200"/>
          </a:xfrm>
          <a:prstGeom prst="rect">
            <a:avLst/>
          </a:prstGeom>
          <a:solidFill>
            <a:srgbClr val="5F8A95"/>
          </a:solidFill>
          <a:ln w="12700">
            <a:solidFill>
              <a:srgbClr val="5F8A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384048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9776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reduzir distância total. O trabalho incorpora equidade e pior caso operacional para gerar soluções aplicáveis.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71416" y="3145536"/>
            <a:ext cx="3520440" cy="27432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3108960"/>
            <a:ext cx="35204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3108960"/>
            <a:ext cx="54864" cy="2743200"/>
          </a:xfrm>
          <a:prstGeom prst="rect">
            <a:avLst/>
          </a:prstGeom>
          <a:solidFill>
            <a:srgbClr val="C9986E"/>
          </a:solidFill>
          <a:ln w="12700">
            <a:solidFill>
              <a:srgbClr val="C998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84048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9776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obteve melhor qualidade global da frente: maior HV, menor IGD e menor Spread.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66176" y="3145536"/>
            <a:ext cx="3520440" cy="27432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3108960"/>
            <a:ext cx="35204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108960"/>
            <a:ext cx="54864" cy="2743200"/>
          </a:xfrm>
          <a:prstGeom prst="rect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metodológico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49640" y="384048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39776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conclusão vale para esta instância, esta parametrização e esta implementação.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Caracterização da instância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testado é um CVRP didático, não uma instância real de campo.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28216"/>
            <a:ext cx="2697480" cy="169164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totais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depósito central e 20 clientes numerados de 1 a 20.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38728" y="1728216"/>
            <a:ext cx="2697480" cy="169164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6916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730752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veículos disponíveis para distribuir todos os atendimentos.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728216"/>
            <a:ext cx="2697480" cy="169164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16916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592824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92824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veículo pode atender demanda total máxima igual a 35.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62872" y="1728216"/>
            <a:ext cx="2697480" cy="169164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16916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54896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454896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54896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repetições independentes por algoritmo.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CVRP?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roteamento precisa respeitar uma restrição de capacidade: a soma das demandas dos clientes alocados a cada veículo não pode exceder o limite do veículo.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" y="5248656"/>
            <a:ext cx="10911535" cy="77724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212080"/>
            <a:ext cx="10911535" cy="777240"/>
          </a:xfrm>
          <a:prstGeom prst="rect">
            <a:avLst/>
          </a:prstGeom>
          <a:solidFill>
            <a:srgbClr val="FDF6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21208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r>
              <a:rPr lang="en-US" sz="1100" b="1" i="1" dirty="0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i="1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VRP/CVRP 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Dantzig &amp; Ramser [1], Toth &amp; Vigo [2] e instâncias benchmark em Uchoa et al. [7].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multiobjetivo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objetivos conflitantes avaliados simultaneamente.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28216"/>
            <a:ext cx="3611880" cy="22860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36118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" cy="2286000"/>
          </a:xfrm>
          <a:prstGeom prst="rect">
            <a:avLst/>
          </a:prstGeom>
          <a:solidFill>
            <a:srgbClr val="5F8A95"/>
          </a:solidFill>
          <a:ln w="12700">
            <a:solidFill>
              <a:srgbClr val="5F8A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custos de todas as rotas. Menor F₁ representa maior eficiência operacional.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17136" y="1728216"/>
            <a:ext cx="3611880" cy="22860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91640"/>
            <a:ext cx="36118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691640"/>
            <a:ext cx="54864" cy="2286000"/>
          </a:xfrm>
          <a:prstGeom prst="rect">
            <a:avLst/>
          </a:prstGeom>
          <a:solidFill>
            <a:srgbClr val="C9986E"/>
          </a:solidFill>
          <a:ln w="12700">
            <a:solidFill>
              <a:srgbClr val="C998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F₂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85216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dos custos das rotas. Menor F₂ significa distribuição mais balanceada.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57616" y="1728216"/>
            <a:ext cx="3611880" cy="22860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91640"/>
            <a:ext cx="36118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691640"/>
            <a:ext cx="54864" cy="2286000"/>
          </a:xfrm>
          <a:prstGeom prst="rect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A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F₃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69264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0" y="28346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custo individual entre as rotas. Menor F₃ reduz o pior caso operacional.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6177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multiobjetivo porque uma solução com custo total muito baixo pode sobrecarregar um veículo; já uma solução muito equilibrada pode aumentar o custo total. Não existe um único ótimo.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" y="5705856"/>
            <a:ext cx="10911535" cy="54864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solidFill>
            <a:srgbClr val="FDF6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6692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r>
              <a:rPr lang="en-US" sz="1100" b="1" i="1" dirty="0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multiobjetivo e dominância de Pareto em Deb et al. [3], Zitzler et al. [4], Deb &amp; Jain [5] e Jozefowiez et al. [10].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2600" b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 independentes no total.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656407"/>
              </p:ext>
            </p:extLst>
          </p:nvPr>
        </p:nvGraphicFramePr>
        <p:xfrm>
          <a:off x="640080" y="1783080"/>
          <a:ext cx="5943600" cy="2057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Média/exec.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12.470,13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415,67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 27min 50s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12.426,63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414,22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 27min 07s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11.483,95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382,80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 11min 24s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6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6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36.380,71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6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10h 6min 21s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/home/claude/restyle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91640"/>
            <a:ext cx="47548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4572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computacional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48920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experimento completo levou 36.380,71 segundos, isto é, aproximadamente 10h 6min 21s. O NSGA-III foi o mais rápido, com média de 382,80 s por execução, mas não obteve a melhor frente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agregada</a:t>
            </a:r>
            <a:r>
              <a:rPr lang="en-US" sz="12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894576" y="4608576"/>
            <a:ext cx="47548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4572000"/>
            <a:ext cx="4754880" cy="1371600"/>
          </a:xfrm>
          <a:prstGeom prst="rect">
            <a:avLst/>
          </a:prstGeom>
          <a:solidFill>
            <a:srgbClr val="FDF6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4088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 err="1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r>
              <a:rPr lang="en-US" sz="1100" b="1" i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menor não implica frente melhor. A comparação deve combinar custo computacional e indicadores de qualidade.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finais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comparar frentes de Pareto sem depender apenas de observação visual.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42285"/>
              </p:ext>
            </p:extLst>
          </p:nvPr>
        </p:nvGraphicFramePr>
        <p:xfrm>
          <a:off x="640080" y="1691640"/>
          <a:ext cx="10881360" cy="168249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IGD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6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A9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0,952308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A9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0,070015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A9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1,053853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0,925001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0,120335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1,680614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A9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0,900200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0,152765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1,200853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76656" y="3694176"/>
            <a:ext cx="2697480" cy="141732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36576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— Hypervolume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maior, melhor. Mede a região dominada pela frente em relação a um ponto de referência.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38728" y="3694176"/>
            <a:ext cx="2697480" cy="141732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36576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5032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 — Distância para frente de referência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85032" y="4297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menor, melhor. Mede proximidade em relação à frente empírica agregada.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3694176"/>
            <a:ext cx="2697480" cy="141732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36576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47104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— regularidade/dispersão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47104" y="4297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menor, melhor. Avalia distribuição dos pontos na frente.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62872" y="3694176"/>
            <a:ext cx="2697480" cy="141732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26296" y="36576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09176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09176" y="4297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soluções não dominadas finais. Maior quantidade não garante maior qualidade.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76656" y="5294376"/>
            <a:ext cx="10911535" cy="50292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5257800"/>
            <a:ext cx="10911535" cy="502920"/>
          </a:xfrm>
          <a:prstGeom prst="rect">
            <a:avLst/>
          </a:prstGeom>
          <a:solidFill>
            <a:srgbClr val="EAF0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525780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direta: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lidera em HV, IGD e Spread. SPEA2 lidera em cardinalidade. NSGA-III não lidera nas métricas finais avaliadas.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" y="58978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r>
              <a:rPr lang="en-US" sz="1050" b="1" dirty="0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 testes em Derrac et al. [8]. Algoritmos em Deb et al. [3], Zitzler et al. [4] e Deb &amp; Jain [5].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Hypervolume e IGD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obteve o melhor desempenho global de frente.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pic>
        <p:nvPicPr>
          <p:cNvPr id="5" name="Image 0" descr="/home/claude/restyle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5440680" cy="3383280"/>
          </a:xfrm>
          <a:prstGeom prst="rect">
            <a:avLst/>
          </a:prstGeom>
        </p:spPr>
      </p:pic>
      <p:pic>
        <p:nvPicPr>
          <p:cNvPr id="6" name="Image 1" descr="/home/claude/restyle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1640"/>
            <a:ext cx="544068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2578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55778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NSGA-II dominou duas métricas principais: maior HV e menor IGD. Isso indica uma frente simultaneamente mais abrangente e mais próxima da referência empírica. Essa é a principal evidência quantitativa da análise.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Spread e Cardinalidade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soluções não dominadas não equivale automaticamente a qualidade.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pic>
        <p:nvPicPr>
          <p:cNvPr id="5" name="Image 0" descr="/home/claude/restyle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5440680" cy="3383280"/>
          </a:xfrm>
          <a:prstGeom prst="rect">
            <a:avLst/>
          </a:prstGeom>
        </p:spPr>
      </p:pic>
      <p:pic>
        <p:nvPicPr>
          <p:cNvPr id="6" name="Image 1" descr="/home/claude/restyle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1640"/>
            <a:ext cx="544068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2120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SPEA2 apresentou maior cardinalidade final, mas também maior Spread. Em termos práticos, isso significa que gerou mais soluções, porém mais dispersas na frente.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76656" y="5843016"/>
            <a:ext cx="10911535" cy="50292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solidFill>
            <a:srgbClr val="FDF6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58064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conceitual: 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externo do SPEA2 preserva soluções não dominadas, mas o truncamento não garante, por si só, regularidade na frente. Ver Zitzler, Laumanns &amp; Thiele [4].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custo total mínimo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F₁ mostra convergência, mas não decide sozinha o problema multiobjetivo.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pic>
        <p:nvPicPr>
          <p:cNvPr id="5" name="Image 0" descr="/home/claude/restyle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8580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08976" y="1728216"/>
            <a:ext cx="38404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169164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0" y="1691640"/>
            <a:ext cx="54864" cy="1371600"/>
          </a:xfrm>
          <a:prstGeom prst="rect">
            <a:avLst/>
          </a:prstGeom>
          <a:solidFill>
            <a:srgbClr val="5F8A95"/>
          </a:solidFill>
          <a:ln w="12700">
            <a:solidFill>
              <a:srgbClr val="5F8A9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rápida inicial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primeiras gerações melhoram muito porque partem de populações pouco refinadas.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08976" y="3282696"/>
            <a:ext cx="38404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324612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0" y="3246120"/>
            <a:ext cx="54864" cy="1371600"/>
          </a:xfrm>
          <a:prstGeom prst="rect">
            <a:avLst/>
          </a:prstGeom>
          <a:solidFill>
            <a:srgbClr val="C9986E"/>
          </a:solidFill>
          <a:ln w="12700">
            <a:solidFill>
              <a:srgbClr val="C998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Patamares evolutivos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01000" y="3840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as melhorias ficam marginais e aparecem em degraus.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08976" y="4837176"/>
            <a:ext cx="38404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0" y="480060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800600"/>
            <a:ext cx="54864" cy="1371600"/>
          </a:xfrm>
          <a:prstGeom prst="rect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01000" y="5394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gráfico mostra apenas F₁. A decisão final precisa considerar também F₂ e F₃.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não dominadas aproximadas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3D das soluções de compromisso.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pic>
        <p:nvPicPr>
          <p:cNvPr id="5" name="Image 0" descr="/home/claude/restyle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4008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0" y="21945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é uma solução não dominada aproximada. Os três eixos são minimizados: F₁, F₂ e F₃. Quanto mais próximo da região de menores valores, melhor tende a ser o compromisso.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3657600"/>
            <a:ext cx="914400" cy="0"/>
          </a:xfrm>
          <a:prstGeom prst="line">
            <a:avLst/>
          </a:prstGeom>
          <a:noFill/>
          <a:ln w="12700">
            <a:solidFill>
              <a:srgbClr val="C998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37947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frente 3D confirma que o problema não possui apenas uma resposta correta. O gestor escolhe uma solução de acordo com a prioridade: custo, equidade ou pior caso.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5486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r>
              <a:rPr lang="en-US" sz="1100" b="1" i="1" dirty="0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dominância de Pareto e MOEAs em [3]–[5], [10].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entre custo total e equidade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região desejável está próxima do canto inferior esquerdo.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pic>
        <p:nvPicPr>
          <p:cNvPr id="5" name="Image 0" descr="/home/claude/restyle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4008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51776" y="1728216"/>
            <a:ext cx="42976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691640"/>
            <a:ext cx="4297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0" y="1691640"/>
            <a:ext cx="54864" cy="1371600"/>
          </a:xfrm>
          <a:prstGeom prst="rect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 inferior esquerdo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4380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custo total e menor desbalanceamento. É a região mais desejável no plano F₁–F₂.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51776" y="3282696"/>
            <a:ext cx="42976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3246120"/>
            <a:ext cx="4297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0" y="3246120"/>
            <a:ext cx="54864" cy="1371600"/>
          </a:xfrm>
          <a:prstGeom prst="rect">
            <a:avLst/>
          </a:prstGeom>
          <a:solidFill>
            <a:srgbClr val="C9986E"/>
          </a:solidFill>
          <a:ln w="12700">
            <a:solidFill>
              <a:srgbClr val="C998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extremos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com equidade excelente podem ter custo maior. Soluções de custo menor podem sacrificar equilíbrio.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51776" y="4837176"/>
            <a:ext cx="42976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0" y="4800600"/>
            <a:ext cx="4297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0" y="4800600"/>
            <a:ext cx="54864" cy="1371600"/>
          </a:xfrm>
          <a:prstGeom prst="rect">
            <a:avLst/>
          </a:prstGeom>
          <a:solidFill>
            <a:srgbClr val="5F8A95"/>
          </a:solidFill>
          <a:ln w="12700">
            <a:solidFill>
              <a:srgbClr val="5F8A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43800" y="4983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prática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43800" y="53949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final deve ser escolhida por preferência gerencial, não apenas por uma métrica isolada.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compromisso — comparação visual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ajudam a comunicar a solução, mas não substituem as métricas.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pic>
        <p:nvPicPr>
          <p:cNvPr id="5" name="Image 0" descr="/home/claude/restyle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361188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37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</a:t>
            </a:r>
            <a:endParaRPr lang="en-US" sz="1400" dirty="0"/>
          </a:p>
        </p:txBody>
      </p:sp>
      <p:pic>
        <p:nvPicPr>
          <p:cNvPr id="7" name="Image 1" descr="/home/claude/restyle/media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91640"/>
            <a:ext cx="361188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34840" y="4937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SPEA2</a:t>
            </a:r>
            <a:endParaRPr lang="en-US" sz="1400" dirty="0"/>
          </a:p>
        </p:txBody>
      </p:sp>
      <p:pic>
        <p:nvPicPr>
          <p:cNvPr id="9" name="Image 2" descr="/home/claude/restyle/media/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691640"/>
            <a:ext cx="3611880" cy="3200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0" y="4937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NSGA-III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76656" y="5522976"/>
            <a:ext cx="10911535" cy="86868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40080" y="5486400"/>
            <a:ext cx="10911535" cy="868680"/>
          </a:xfrm>
          <a:prstGeom prst="rect">
            <a:avLst/>
          </a:prstGeom>
          <a:solidFill>
            <a:srgbClr val="FDF6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68680" y="55321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figuras mostram soluções compromisso escolhidas por normalização dos objetivos. Como o CSV não exporta custo por rota, a leitura dos mapas é qualitativa.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estatísticos e limites da inferência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métrica disponível permite teste estatístico adequado.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858000" cy="23042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A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41,9898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A9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7,621e-10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A9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 evidente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Cardinalidade por execução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diferença relevante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F₁ por execução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diferença relevante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F₂ por execução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diferença relevante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F₃ por execução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diferença relevante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crítico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1945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HV, IGD e Spread foram exportados apenas como valores finais agregados por algoritmo. Logo, não há 30 valores por algoritmo para teste inferencial dessas métricas. A conclusão sobre elas é descritiva, não inferencial.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08976" y="4379976"/>
            <a:ext cx="3840480" cy="13716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0" y="4343400"/>
            <a:ext cx="3840480" cy="1371600"/>
          </a:xfrm>
          <a:prstGeom prst="rect">
            <a:avLst/>
          </a:prstGeom>
          <a:solidFill>
            <a:srgbClr val="FDF6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4434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HV, IGD e Spread por execução para permitir Wilcoxon/Friedman/Holm em versão futura.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estatística: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Derrac et al. [8].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10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comparativa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algoritmo foi melhor neste experimento?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28216"/>
            <a:ext cx="3611880" cy="292608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3611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" cy="2926080"/>
          </a:xfrm>
          <a:prstGeom prst="rect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A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qualidade global: maior HV, menor IGD e menor Spread. Deve ser apresentado como vencedor técnico da instância.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17136" y="1728216"/>
            <a:ext cx="3611880" cy="292608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91640"/>
            <a:ext cx="3611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691640"/>
            <a:ext cx="54864" cy="2926080"/>
          </a:xfrm>
          <a:prstGeom prst="rect">
            <a:avLst/>
          </a:prstGeom>
          <a:solidFill>
            <a:srgbClr val="C9986E"/>
          </a:solidFill>
          <a:ln w="12700">
            <a:solidFill>
              <a:srgbClr val="C998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74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76072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cardinalidade final. Gerou mais alternativas, mas com pior regularidade e pior proximidade que o NSGA-II.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57616" y="1728216"/>
            <a:ext cx="3611880" cy="292608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91640"/>
            <a:ext cx="3611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691640"/>
            <a:ext cx="54864" cy="2926080"/>
          </a:xfrm>
          <a:prstGeom prst="rect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1874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88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60120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41080" y="29260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rápido, porém com menor HV e maior IGD. A hipótese de vantagem por pontos de referência não se confirmou aqui.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166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dados disponíveis, o NSGA-II apresentou o melhor compromisso global para a instância didática avaliada. Essa conclusão é técnica, baseada em três indicadores objetivos.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" y="5888736"/>
            <a:ext cx="10911535" cy="50292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EAF0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8521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venceu neste experimento por evidência métrica, não por preferência </a:t>
            </a:r>
            <a:r>
              <a:rPr lang="en-US" sz="1150" i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metodológica</a:t>
            </a:r>
            <a:r>
              <a:rPr lang="en-US" sz="1150" i="1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e peso do trabalho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contribuição é técnica, operacional e gerencial.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28216"/>
            <a:ext cx="3611880" cy="18288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" cy="1828800"/>
          </a:xfrm>
          <a:prstGeom prst="rect">
            <a:avLst/>
          </a:prstGeom>
          <a:solidFill>
            <a:srgbClr val="5F8A95"/>
          </a:solidFill>
          <a:ln w="12700">
            <a:solidFill>
              <a:srgbClr val="5F8A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técnico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CVRP, algoritmos evolucionários multiobjetivo e métricas de qualidade de frente.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17136" y="1728216"/>
            <a:ext cx="3611880" cy="18288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9164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91640"/>
            <a:ext cx="54864" cy="1828800"/>
          </a:xfrm>
          <a:prstGeom prst="rect">
            <a:avLst/>
          </a:prstGeom>
          <a:solidFill>
            <a:srgbClr val="C9986E"/>
          </a:solidFill>
          <a:ln w="12700">
            <a:solidFill>
              <a:srgbClr val="C998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operacional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uma preocupação real: evitar concentração de carga de trabalho em poucos veículos ou motoristas.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57616" y="1728216"/>
            <a:ext cx="3611880" cy="18288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69164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691640"/>
            <a:ext cx="54864" cy="1828800"/>
          </a:xfrm>
          <a:prstGeom prst="rect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acadêmico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conflito entre objetivos, comparação controlada e limites de validade dos resultados.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possíveis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urbana, distribuição, manutenção de campo, equipes técnicas, coleta, visitas periódicas, gestão de jornada e planejamento de rotas profissionais.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303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200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</a:t>
            </a:r>
            <a:r>
              <a:rPr lang="en-US" sz="12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VRP de decisões reais: a melhor rota não é apenas a mais curta, mas a que equilibra custo, justiça, risco e conformidade.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r>
              <a:rPr lang="en-US" sz="1050" b="1" dirty="0" smtClean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equity em Matl, Hartl &amp; Vidal [6] e surveys de VRP multiobjetivo em Jozefowiez et al. [10].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próximos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é forte, mas ainda pode evoluir metodologicamente.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28216"/>
            <a:ext cx="5440680" cy="41148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440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" cy="4114800"/>
          </a:xfrm>
          <a:prstGeom prst="rect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identificadas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496312"/>
            <a:ext cx="109728" cy="109728"/>
          </a:xfrm>
          <a:prstGeom prst="ellipse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uma instância didática foi analisada; não há generalização universal.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273552"/>
            <a:ext cx="109728" cy="109728"/>
          </a:xfrm>
          <a:prstGeom prst="ellipse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2004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HV, IGD e Spread foram exportados como métricas agregadas, não por execução.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4050792"/>
            <a:ext cx="109728" cy="109728"/>
          </a:xfrm>
          <a:prstGeom prst="ellipse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77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figuras de rotas não trazem custo individual por rota no CSV.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4828032"/>
            <a:ext cx="109728" cy="109728"/>
          </a:xfrm>
          <a:prstGeom prst="ellipse">
            <a:avLst/>
          </a:prstGeom>
          <a:solidFill>
            <a:srgbClr val="B8825E"/>
          </a:solidFill>
          <a:ln w="12700">
            <a:solidFill>
              <a:srgbClr val="B882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7548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depende dos operadores, reparo, população, sementes e critério de parada.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83096" y="1728216"/>
            <a:ext cx="5440680" cy="411480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691640"/>
            <a:ext cx="5440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691640"/>
            <a:ext cx="54864" cy="4114800"/>
          </a:xfrm>
          <a:prstGeom prst="rect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874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recomendadas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12280" y="2496312"/>
            <a:ext cx="109728" cy="109728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instâncias CVRPLIB pequenas, médias e grandes.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3273552"/>
            <a:ext cx="109728" cy="109728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32004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HV, IGD e Spread em cada execução independente.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12280" y="4050792"/>
            <a:ext cx="109728" cy="109728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3977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testes não paramétricos com correção post-hoc.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4828032"/>
            <a:ext cx="109728" cy="109728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47548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sequência, custo, demanda e tempo por rota.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principais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utilizadas na análise e na fundamentação.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19050">
            <a:solidFill>
              <a:srgbClr val="C998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Dantzig &amp; Ramser, 1959 · The Truck Dispatching Problem.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Toth &amp; Vigo, 2014 · Vehicle Routing: Problems, Methods, and Applications.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971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 et al., 2002 · NSGA-II.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Zitzler, Laumanns &amp; Thiele, 2001 · SPEA2.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 &amp; Jain, 2014 · NSGA-III.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Matl, Hartl &amp; Vidal, 2018 · Workload Equity in VRP.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2377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Uchoa et al., 2017 · CVRPLIB / benchmark instances.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2971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Derrac et al., 2011 · testes estatísticos não paramétricos.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3566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Ombuki, Ross &amp; Hanshar, 2006 · MOGA para VRPTW.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160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9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Jozefowiez, Semet &amp; Talbi, 2008 · survey de VRP multiobjetivo.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" y="5157216"/>
            <a:ext cx="10911535" cy="1097280"/>
          </a:xfrm>
          <a:prstGeom prst="rect">
            <a:avLst/>
          </a:prstGeom>
          <a:solidFill>
            <a:srgbClr val="E5E7EB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solidFill>
            <a:srgbClr val="FDF6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final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57784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demonstra que otimização de rotas precisa equilibrar eficiência matemática e justiça operacional.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Multiobjetivo · NSGA-II / SPEA2 / NSGA-III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3721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1928</Words>
  <Application>Microsoft Office PowerPoint</Application>
  <PresentationFormat>Widescreen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VRP Multiobjetivo com Equidade — Resultados</dc:title>
  <dc:subject>PptxGenJS Presentation</dc:subject>
  <dc:creator>Lopes, Silva, Lemos, Cerqueira</dc:creator>
  <cp:lastModifiedBy>Dell</cp:lastModifiedBy>
  <cp:revision>6</cp:revision>
  <dcterms:created xsi:type="dcterms:W3CDTF">2026-05-28T17:02:06Z</dcterms:created>
  <dcterms:modified xsi:type="dcterms:W3CDTF">2026-05-28T20:10:42Z</dcterms:modified>
</cp:coreProperties>
</file>